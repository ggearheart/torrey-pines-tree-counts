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E5A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2E5A34"/>
                </a:solidFill>
                <a:latin typeface="Arial"/>
              </a:rPr>
              <a:t>Torrey Pine Abundance Over Time</a:t>
            </a:r>
          </a:p>
          <a:p>
            <a:r>
              <a:rPr sz="2000" b="0" i="0">
                <a:solidFill>
                  <a:srgbClr val="222222"/>
                </a:solidFill>
                <a:latin typeface="Arial"/>
              </a:rPr>
              <a:t>Torrey Pines State Natural Reserve — ~3,000-year record</a:t>
            </a:r>
          </a:p>
          <a:p>
            <a:r>
              <a:rPr sz="1400" b="0" i="1">
                <a:solidFill>
                  <a:srgbClr val="777777"/>
                </a:solidFill>
                <a:latin typeface="Arial"/>
              </a:rPr>
              <a:t>Pollen-based estimates (Cole &amp; Wahl 2000) through modern surveys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E5A34"/>
                </a:solidFill>
                <a:latin typeface="Arial"/>
              </a:rPr>
              <a:t>The full record</a:t>
            </a:r>
          </a:p>
        </p:txBody>
      </p:sp>
      <p:pic>
        <p:nvPicPr>
          <p:cNvPr id="3" name="Picture 2" descr="chart_full_3000y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9601200" cy="53999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777777"/>
                </a:solidFill>
                <a:latin typeface="Arial"/>
              </a:rPr>
              <a:t>Present on the right. Ancient points are pollen-derived estimates with real uncertainty; modern points are surveys. Story: present throughout, far less numerous in the deep past.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E5A34"/>
                </a:solidFill>
                <a:latin typeface="Arial"/>
              </a:rPr>
              <a:t>Modern era (1880–2026)</a:t>
            </a:r>
          </a:p>
        </p:txBody>
      </p:sp>
      <p:pic>
        <p:nvPicPr>
          <p:cNvPr id="3" name="Picture 2" descr="chart_modern_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9601200" cy="53999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777777"/>
                </a:solidFill>
                <a:latin typeface="Arial"/>
              </a:rPr>
              <a:t>The documented era. A late-1800s low of a few hundred trees recovers to several thousand by the 2000s. Open markers are estimates; filled are hard 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E5A34"/>
                </a:solidFill>
                <a:latin typeface="Arial"/>
              </a:rPr>
              <a:t>Estimate vs. hard count</a:t>
            </a:r>
          </a:p>
        </p:txBody>
      </p:sp>
      <p:pic>
        <p:nvPicPr>
          <p:cNvPr id="3" name="Picture 2" descr="chart_estimate_v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88720"/>
            <a:ext cx="9601200" cy="53999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89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777777"/>
                </a:solidFill>
                <a:latin typeface="Arial"/>
              </a:rPr>
              <a:t>Which numbers are measured vs. estimated. Only the 2006 and 2018 points are full manual counts; recent totals blend counts with planting/fire estimates.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E5A34"/>
                </a:solidFill>
                <a:latin typeface="Arial"/>
              </a:rPr>
              <a:t>The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143000"/>
          <a:ext cx="10332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188720"/>
                <a:gridCol w="1280160"/>
                <a:gridCol w="2011680"/>
                <a:gridCol w="4389120"/>
              </a:tblGrid>
              <a:tr h="2743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2E5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Yrs ago</a:t>
                      </a:r>
                    </a:p>
                  </a:txBody>
                  <a:tcPr>
                    <a:solidFill>
                      <a:srgbClr val="2E5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>
                    <a:solidFill>
                      <a:srgbClr val="2E5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>
                    <a:solidFill>
                      <a:srgbClr val="2E5A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Arial"/>
                        </a:rPr>
                        <a:t>Source</a:t>
                      </a:r>
                    </a:p>
                  </a:txBody>
                  <a:tcPr>
                    <a:solidFill>
                      <a:srgbClr val="2E5A3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2026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3,950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 +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 post fire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2022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4,020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 +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Ball park with plantings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2018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4,167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Manual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Tierra Data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2006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4,691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Manual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Santos and Franklin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2000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cole and wahl most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1998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ledig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1962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1916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fleming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1889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Belle Angiers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1888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lemmon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1026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26 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cole and wahl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~974 BCE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22222"/>
                          </a:solidFill>
                          <a:latin typeface="Arial"/>
                        </a:rPr>
                        <a:t>cole and wahl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E5A34"/>
                </a:solidFill>
                <a:latin typeface="Arial"/>
              </a:rPr>
              <a:t>Methods &amp;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•  Deep-time points (≈2,000–3,000 yrs ago) are ESTIMATES derived from pollen abundance in Los Peñasquitos Lagoon sediment cores — not tree counts.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•  Source: Cole, K.L. &amp; Wahl, E. (2000), Quaternary Research 53(3):341–351. The record shows Torrey pine present throughout but less numerous before ~2,100 years ago.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•  Historical points (1888–1962) are early naturalists' estimates (Lemmon, Belle Angier, Fleming, Ledig).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•  Modern points: 2006 (Santos &amp; Franklin) and 2018 (Tierra Data) are manual counts; 2022 and 2026 blend counts with planting / post-fire estimates.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•  Years-before-present computed from 2026. Estimates carry real uncertainty — shown as open markers, not precise values.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22222"/>
                </a:solidFill>
                <a:latin typeface="Arial"/>
              </a:rPr>
              <a:t>•  Generated from TPSNR_treecount_version1.xlsx by build.py — re-run after editing the spreadsheet.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