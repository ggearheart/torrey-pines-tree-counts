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" y="2286000"/>
            <a:ext cx="8412480" cy="2377440"/>
          </a:xfrm>
          <a:prstGeom prst="rect">
            <a:avLst/>
          </a:prstGeom>
          <a:solidFill>
            <a:srgbClr val="FBF7EE"/>
          </a:solidFill>
          <a:ln w="19050">
            <a:solidFill>
              <a:srgbClr val="C09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7863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 i="0">
                <a:solidFill>
                  <a:srgbClr val="38613C"/>
                </a:solidFill>
                <a:latin typeface="Arial"/>
              </a:rPr>
              <a:t>Torrey Pine Abundance Over Time</a:t>
            </a:r>
          </a:p>
          <a:p>
            <a:r>
              <a:rPr sz="1900" b="0" i="0">
                <a:solidFill>
                  <a:srgbClr val="2A2A22"/>
                </a:solidFill>
                <a:latin typeface="Arial"/>
              </a:rPr>
              <a:t>Torrey Pines State Natural Reserve — a ~3,000-year record</a:t>
            </a:r>
          </a:p>
          <a:p>
            <a:r>
              <a:rPr sz="1400" b="0" i="1">
                <a:solidFill>
                  <a:srgbClr val="C0901F"/>
                </a:solidFill>
                <a:latin typeface="Arial"/>
              </a:rPr>
              <a:t>Pollen-based estimates through modern surveys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38613C"/>
                </a:solidFill>
                <a:latin typeface="Arial"/>
              </a:rPr>
              <a:t>The full record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960120"/>
            <a:ext cx="2926080" cy="64008"/>
          </a:xfrm>
          <a:prstGeom prst="rect">
            <a:avLst/>
          </a:prstGeom>
          <a:solidFill>
            <a:srgbClr val="C09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ancy_full_3000y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234440"/>
            <a:ext cx="9418320" cy="52970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6126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2A2A22"/>
                </a:solidFill>
                <a:latin typeface="Arial"/>
              </a:rPr>
              <a:t>Present on the right (log time axis). Ancient points are pollen estimates with real uncertainty; modern points are surveys.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38613C"/>
                </a:solidFill>
                <a:latin typeface="Arial"/>
              </a:rPr>
              <a:t>Modern era (1880–2026)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960120"/>
            <a:ext cx="2926080" cy="64008"/>
          </a:xfrm>
          <a:prstGeom prst="rect">
            <a:avLst/>
          </a:prstGeom>
          <a:solidFill>
            <a:srgbClr val="C09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ancy_modern_e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234440"/>
            <a:ext cx="9418320" cy="52970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6126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2A2A22"/>
                </a:solidFill>
                <a:latin typeface="Arial"/>
              </a:rPr>
              <a:t>A late-1800s low of a few hundred trees recovers to several thousand. Open markers are estimates; filled are hard counts.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38613C"/>
                </a:solidFill>
                <a:latin typeface="Arial"/>
              </a:rPr>
              <a:t>Estimate vs. hard count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960120"/>
            <a:ext cx="2926080" cy="64008"/>
          </a:xfrm>
          <a:prstGeom prst="rect">
            <a:avLst/>
          </a:prstGeom>
          <a:solidFill>
            <a:srgbClr val="C09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ancy_estimate_vs_act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234440"/>
            <a:ext cx="9418320" cy="52970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6126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2A2A22"/>
                </a:solidFill>
                <a:latin typeface="Arial"/>
              </a:rPr>
              <a:t>Only 2006 and 2018 are full manual counts; recent totals blend counts with planting and post-fire estimates.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38613C"/>
                </a:solidFill>
                <a:latin typeface="Arial"/>
              </a:rPr>
              <a:t>2000 to present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960120"/>
            <a:ext cx="2926080" cy="64008"/>
          </a:xfrm>
          <a:prstGeom prst="rect">
            <a:avLst/>
          </a:prstGeom>
          <a:solidFill>
            <a:srgbClr val="C09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ancy_2000_pres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234440"/>
            <a:ext cx="9418320" cy="52970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6126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2A2A22"/>
                </a:solidFill>
                <a:latin typeface="Arial"/>
              </a:rPr>
              <a:t>The last ~25 years, labeled. A gentle decline from the 2000 estimate (5,000) to the 2026 post-fire figure (3,950).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38613C"/>
                </a:solidFill>
                <a:latin typeface="Arial"/>
              </a:rPr>
              <a:t>Methods &amp; 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05840"/>
            <a:ext cx="2926080" cy="64008"/>
          </a:xfrm>
          <a:prstGeom prst="rect">
            <a:avLst/>
          </a:prstGeom>
          <a:solidFill>
            <a:srgbClr val="C09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 i="0">
                <a:solidFill>
                  <a:srgbClr val="2A2A22"/>
                </a:solidFill>
                <a:latin typeface="Arial"/>
              </a:rPr>
              <a:t>•  Deep-time points (~1,000–3,000 yrs ago) are ESTIMATES from pollen abundance in Los Peñasquitos Lagoon sediment cores — not tree counts.</a:t>
            </a:r>
          </a:p>
          <a:p>
            <a:pPr>
              <a:spcAft>
                <a:spcPts val="900"/>
              </a:spcAft>
            </a:pPr>
            <a:r>
              <a:rPr sz="1400" b="0" i="0">
                <a:solidFill>
                  <a:srgbClr val="2A2A22"/>
                </a:solidFill>
                <a:latin typeface="Arial"/>
              </a:rPr>
              <a:t>•  Source: Cole, K.L. &amp; Wahl, E. (2000), Quaternary Research 53(3):341–351. Torrey pine present throughout but less numerous before ~2,100 years ago.</a:t>
            </a:r>
          </a:p>
          <a:p>
            <a:pPr>
              <a:spcAft>
                <a:spcPts val="900"/>
              </a:spcAft>
            </a:pPr>
            <a:r>
              <a:rPr sz="1400" b="0" i="0">
                <a:solidFill>
                  <a:srgbClr val="2A2A22"/>
                </a:solidFill>
                <a:latin typeface="Arial"/>
              </a:rPr>
              <a:t>•  Historical points (1888–1962): early naturalists (Lemmon, Belle Angier, Fleming, Ledig).</a:t>
            </a:r>
          </a:p>
          <a:p>
            <a:pPr>
              <a:spcAft>
                <a:spcPts val="900"/>
              </a:spcAft>
            </a:pPr>
            <a:r>
              <a:rPr sz="1400" b="0" i="0">
                <a:solidFill>
                  <a:srgbClr val="2A2A22"/>
                </a:solidFill>
                <a:latin typeface="Arial"/>
              </a:rPr>
              <a:t>•  Modern: 2006 (Santos &amp; Franklin) and 2018 (Tierra Data) are manual counts; 2022/2026 blend counts with planting / post-fire estimates.</a:t>
            </a:r>
          </a:p>
          <a:p>
            <a:pPr>
              <a:spcAft>
                <a:spcPts val="900"/>
              </a:spcAft>
            </a:pPr>
            <a:r>
              <a:rPr sz="1400" b="0" i="0">
                <a:solidFill>
                  <a:srgbClr val="2A2A22"/>
                </a:solidFill>
                <a:latin typeface="Arial"/>
              </a:rPr>
              <a:t>•  Years-before-present computed from 2026. Estimates shown as open markers to signal uncertainty.</a:t>
            </a:r>
          </a:p>
          <a:p>
            <a:pPr>
              <a:spcAft>
                <a:spcPts val="900"/>
              </a:spcAft>
            </a:pPr>
            <a:r>
              <a:rPr sz="1400" b="0" i="0">
                <a:solidFill>
                  <a:srgbClr val="2A2A22"/>
                </a:solidFill>
                <a:latin typeface="Arial"/>
              </a:rPr>
              <a:t>•  Generated from TPSNR_treecount_version1.xlsx by build_fancy.py.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